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50876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Prompt Playground
Redesign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46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8BEAF"/>
                </a:solidFill>
                <a:latin typeface="Poppins"/>
              </a:rPr>
              <a:t>Level 1 — Interactive Prompt Engineering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8404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0AEC0"/>
                </a:solidFill>
                <a:latin typeface="Poppins"/>
              </a:rPr>
              <a:t>An AI-powered tool that teaches prompt engineering by demonstration — users describe a real task, receive a single optimised prompt, and see the named strategies that built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0AEC0"/>
                </a:solidFill>
                <a:latin typeface="Poppins"/>
              </a:rPr>
              <a:t>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10819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0AEC0"/>
                </a:solidFill>
                <a:latin typeface="Poppins"/>
              </a:rP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8BEAF"/>
                </a:solidFill>
                <a:latin typeface="Poppins"/>
              </a:rPr>
              <a:t>OXYGY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0" y="12801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8BEAF"/>
                </a:solidFill>
                <a:latin typeface="Poppins"/>
              </a:rPr>
              <a:t>SECTION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60020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3748"/>
                </a:solidFill>
                <a:latin typeface="Poppins"/>
              </a:rPr>
              <a:t>Overview &amp;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606040"/>
            <a:ext cx="6217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167"/>
                </a:solidFill>
                <a:latin typeface="Poppins"/>
              </a:rPr>
              <a:t>The Prompt Playground is the experiential anchor for Level 1. This section establishes what it does, where it sits in the platform, and the key shifts from v1.0 to v2.0 — from a rigid 6-part blueprint to a strategy-aware, open-ended tool.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6635" y="228600"/>
            <a:ext cx="111575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3748"/>
                </a:solidFill>
                <a:latin typeface="Poppins"/>
              </a:rPr>
              <a:t>What the Prompt Playground does and where it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635" y="886968"/>
            <a:ext cx="111575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OVERVIEW: PURPOSE &amp; 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5" y="1234440"/>
            <a:ext cx="11157508" cy="530352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The Playground teaches prompt engineering by demonstration — users describe a real task, receive a single optimised prompt, and see the prompting strategies combined to build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5" y="5879592"/>
            <a:ext cx="11157508" cy="457200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91616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💡 The tool is both a learning instrument and a daily-use utility — internal learners use it for real tasks while absorbing prompting principles unconsciously.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5" y="1920240"/>
            <a:ext cx="5440680" cy="365760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• AI-powered tool in the Level 1 section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• Teaches prompt engineering by demonstration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• Single open input → strategy-aware output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• Replaces the two-mode mechanic (Enhance / Build)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• Replaces the mandatory 6-part blueprint output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• Shows that great prompting is a craft with multiple techniques — not a fixed formula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920240"/>
            <a:ext cx="5440680" cy="365760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POSITION IN 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231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• Accessed from Level 1 via 'Try the Prompt Playground' CTA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• Lives at /playground route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• ← Back to Level 1 breadcrumb top-left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• Referenced from Agent Builder (Level 2)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Two audiences: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  Internal learners → real daily work tool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  External showcase → evaluate Oxygy's depth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6635" y="228600"/>
            <a:ext cx="111575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3748"/>
                </a:solidFill>
                <a:latin typeface="Poppins"/>
              </a:rPr>
              <a:t>Key shifts from v1.0 to v2.0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635" y="886968"/>
            <a:ext cx="111575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OVERVIEW: VERSION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5" y="1234440"/>
            <a:ext cx="11157508" cy="530352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The redesign moves from a rigid, single-format output to a flexible, strategy-aware engine that adapts to each task type.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5" y="5879592"/>
            <a:ext cx="11157508" cy="457200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91616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💡 v2.0 positions prompting as a craft with named techniques and judgment calls — not a formula to follow.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5" y="1920240"/>
            <a:ext cx="5440680" cy="41148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5" y="1947672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oppins"/>
              </a:rPr>
              <a:t>v1.0 (Previous)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920240"/>
            <a:ext cx="5440680" cy="411480"/>
          </a:xfrm>
          <a:prstGeom prst="round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947672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oppins"/>
              </a:rPr>
              <a:t>v2.0 (Redesign)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5" y="2423160"/>
            <a:ext cx="5440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14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167"/>
                </a:solidFill>
                <a:latin typeface="Poppins"/>
              </a:rPr>
              <a:t>Two mode cards
(Enhance / Build from Scratch)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2423160"/>
            <a:ext cx="5440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514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D3748"/>
                </a:solidFill>
                <a:latin typeface="Poppins"/>
              </a:rPr>
              <a:t>Single open textarea
— no mode selection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635" y="3337560"/>
            <a:ext cx="5440680" cy="822960"/>
          </a:xfrm>
          <a:prstGeom prst="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4290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167"/>
                </a:solidFill>
                <a:latin typeface="Poppins"/>
              </a:rPr>
              <a:t>6-part Blueprint as
mandatory output format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8" y="3337560"/>
            <a:ext cx="5440680" cy="822960"/>
          </a:xfrm>
          <a:prstGeom prst="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4290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D3748"/>
                </a:solidFill>
                <a:latin typeface="Poppins"/>
              </a:rPr>
              <a:t>Strategy-aware output:
combined prompt + strategy attribution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5" y="4251960"/>
            <a:ext cx="5440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3434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167"/>
                </a:solidFill>
                <a:latin typeface="Poppins"/>
              </a:rPr>
              <a:t>Output always structured
into 6 sections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4251960"/>
            <a:ext cx="5440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3434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D3748"/>
                </a:solidFill>
                <a:latin typeface="Poppins"/>
              </a:rPr>
              <a:t>Output format adapts
to the task type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6635" y="5166360"/>
            <a:ext cx="5440680" cy="822960"/>
          </a:xfrm>
          <a:prstGeom prst="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2578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167"/>
                </a:solidFill>
                <a:latin typeface="Poppins"/>
              </a:rPr>
              <a:t>Educational layer implicit
(learn by observing structure)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5166360"/>
            <a:ext cx="5440680" cy="822960"/>
          </a:xfrm>
          <a:prstGeom prst="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2578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D3748"/>
                </a:solidFill>
                <a:latin typeface="Poppins"/>
              </a:rPr>
              <a:t>Educational layer explicit
(named strategies, practitioner rationale)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0" y="12801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8BEAF"/>
                </a:solidFill>
                <a:latin typeface="Poppins"/>
              </a:rPr>
              <a:t>SECTION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60020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3748"/>
                </a:solidFill>
                <a:latin typeface="Poppins"/>
              </a:rPr>
              <a:t>The Eight Prompting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606040"/>
            <a:ext cx="6217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167"/>
                </a:solidFill>
                <a:latin typeface="Poppins"/>
              </a:rPr>
              <a:t>These are the canonical strategies the AI selects from. Each is defined with clear when-to-use and when-not-to-use guidance. Together they form a strategy-aware engine — not a fixed formula.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6635" y="228600"/>
            <a:ext cx="111575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3748"/>
                </a:solidFill>
                <a:latin typeface="Poppins"/>
              </a:rPr>
              <a:t>Eight prompting strategies — the AI's toolkit (1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635" y="886968"/>
            <a:ext cx="111575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THE STRATEGY ENGINE: STRATEGIES 1–4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5" y="1234440"/>
            <a:ext cx="11157508" cy="530352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Each strategy is a named technique the AI selects from based on the task type. Learners absorb these through repeated exposure — not instruction.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5" y="5879592"/>
            <a:ext cx="11157508" cy="457200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91616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💡 Persona appears in almost every output, reinforcing that 'who is speaking' is the highest-leverage variable in prompting.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5" y="1920240"/>
            <a:ext cx="2651760" cy="365760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6635" y="1920240"/>
            <a:ext cx="2651760" cy="73152"/>
          </a:xfrm>
          <a:prstGeom prst="rect">
            <a:avLst/>
          </a:prstGeom>
          <a:solidFill>
            <a:srgbClr val="C3D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5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>
                <a:latin typeface="Poppins"/>
              </a:rPr>
              <a:t>🏗️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" y="2514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3748"/>
                </a:solidFill>
                <a:latin typeface="Poppins"/>
              </a:rPr>
              <a:t>Structured
Blueprint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" y="315468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167"/>
                </a:solidFill>
                <a:latin typeface="Poppins"/>
              </a:rPr>
              <a:t>Breaks prompt into named sections: Role, Context, Task, Format, Steps, Quality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5556" y="1920240"/>
            <a:ext cx="2651760" cy="365760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05556" y="1920240"/>
            <a:ext cx="2651760" cy="73152"/>
          </a:xfrm>
          <a:prstGeom prst="rect">
            <a:avLst/>
          </a:prstGeom>
          <a:solidFill>
            <a:srgbClr val="FBE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05556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>
                <a:latin typeface="Poppins"/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2715" y="2514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3748"/>
                </a:solidFill>
                <a:latin typeface="Poppins"/>
              </a:rPr>
              <a:t>Chain-of-
Thought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2715" y="315468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167"/>
                </a:solidFill>
                <a:latin typeface="Poppins"/>
              </a:rPr>
              <a:t>Instructs AI to reason step-by-step before concluding. Dramatically improves analytical output.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4475" y="1920240"/>
            <a:ext cx="2651760" cy="365760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4475" y="1920240"/>
            <a:ext cx="2651760" cy="73152"/>
          </a:xfrm>
          <a:prstGeom prst="rect">
            <a:avLst/>
          </a:prstGeom>
          <a:solidFill>
            <a:srgbClr val="A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4475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>
                <a:latin typeface="Poppins"/>
              </a:rPr>
              <a:t>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1636" y="2514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3748"/>
                </a:solidFill>
                <a:latin typeface="Poppins"/>
              </a:rPr>
              <a:t>Persona /
Expert Role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1636" y="315468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167"/>
                </a:solidFill>
                <a:latin typeface="Poppins"/>
              </a:rPr>
              <a:t>Assigns specific expert identity that anchors vocabulary, tone, and perspective.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3395" y="1920240"/>
            <a:ext cx="2651760" cy="365760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3395" y="1920240"/>
            <a:ext cx="2651760" cy="73152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3395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>
                <a:latin typeface="Poppins"/>
              </a:rPr>
              <a:t>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0555" y="2514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3748"/>
                </a:solidFill>
                <a:latin typeface="Poppins"/>
              </a:rPr>
              <a:t>Output Format
Specification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0555" y="315468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167"/>
                </a:solidFill>
                <a:latin typeface="Poppins"/>
              </a:rPr>
              <a:t>Defines how output should be structured: length, layout, headers, tone,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6635" y="228600"/>
            <a:ext cx="111575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3748"/>
                </a:solidFill>
                <a:latin typeface="Poppins"/>
              </a:rPr>
              <a:t>Eight prompting strategies — the AI's toolkit (2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635" y="886968"/>
            <a:ext cx="111575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THE STRATEGY ENGINE: STRATEGIES 5–8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5" y="1234440"/>
            <a:ext cx="11157508" cy="530352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The remaining four strategies handle constraints, examples, decomposition, and tone — each filling a distinct need in the prompting craft.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5" y="5879592"/>
            <a:ext cx="11157508" cy="457200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91616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💡 Constraint Framing never appears alone — it's always additive. This teaches learners that constraints are modifiers, not drivers.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5" y="1920240"/>
            <a:ext cx="2651760" cy="365760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6635" y="1920240"/>
            <a:ext cx="2651760" cy="73152"/>
          </a:xfrm>
          <a:prstGeom prst="rect">
            <a:avLst/>
          </a:prstGeom>
          <a:solidFill>
            <a:srgbClr val="FBC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5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>
                <a:latin typeface="Poppins"/>
              </a:rPr>
              <a:t>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" y="2514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3748"/>
                </a:solidFill>
                <a:latin typeface="Poppins"/>
              </a:rPr>
              <a:t>Constraint
Framing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" y="315468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167"/>
                </a:solidFill>
                <a:latin typeface="Poppins"/>
              </a:rPr>
              <a:t>Scopes what the AI should NOT do — topics to avoid, length limits, risk prevention.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5556" y="1920240"/>
            <a:ext cx="2651760" cy="365760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05556" y="1920240"/>
            <a:ext cx="2651760" cy="73152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05556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>
                <a:latin typeface="Poppins"/>
              </a:rPr>
              <a:t>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2715" y="2514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3748"/>
                </a:solidFill>
                <a:latin typeface="Poppins"/>
              </a:rPr>
              <a:t>Few-Shot
Examples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2715" y="315468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167"/>
                </a:solidFill>
                <a:latin typeface="Poppins"/>
              </a:rPr>
              <a:t>Includes concrete examples of desired output. AI pattern-matches structure, tone, and style.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4475" y="1920240"/>
            <a:ext cx="2651760" cy="365760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4475" y="1920240"/>
            <a:ext cx="2651760" cy="73152"/>
          </a:xfrm>
          <a:prstGeom prst="rect">
            <a:avLst/>
          </a:prstGeom>
          <a:solidFill>
            <a:srgbClr val="C3D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4475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>
                <a:latin typeface="Poppins"/>
              </a:rPr>
              <a:t>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1636" y="2514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3748"/>
                </a:solidFill>
                <a:latin typeface="Poppins"/>
              </a:rPr>
              <a:t>Iterative
Decomposition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1636" y="315468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167"/>
                </a:solidFill>
                <a:latin typeface="Poppins"/>
              </a:rPr>
              <a:t>Breaks complex tasks into sequential sub-tasks, each building on the previous.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3395" y="1920240"/>
            <a:ext cx="2651760" cy="365760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3395" y="1920240"/>
            <a:ext cx="2651760" cy="73152"/>
          </a:xfrm>
          <a:prstGeom prst="rect">
            <a:avLst/>
          </a:prstGeom>
          <a:solidFill>
            <a:srgbClr val="FBE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3395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>
                <a:latin typeface="Poppins"/>
              </a:rPr>
              <a:t>🎙️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0555" y="2514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3748"/>
                </a:solidFill>
                <a:latin typeface="Poppins"/>
              </a:rPr>
              <a:t>Tone &amp; Voice
Setting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0555" y="315468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167"/>
                </a:solidFill>
                <a:latin typeface="Poppins"/>
              </a:rPr>
              <a:t>Specifies register and relational dynamic precisely: 'peer-to-peer, not evangelical.'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6635" y="228600"/>
            <a:ext cx="111575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3748"/>
                </a:solidFill>
                <a:latin typeface="Poppins"/>
              </a:rPr>
              <a:t>How strategies combine — the five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635" y="886968"/>
            <a:ext cx="111575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STRATEGY COMBINATION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5" y="1234440"/>
            <a:ext cx="11157508" cy="530352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Not all strategies work together. These five rules govern which combinations produce effective prompts and which create noise.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5" y="5879592"/>
            <a:ext cx="11157508" cy="457200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91616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💡 Blueprint and Chain-of-Thought are rarely combined — choose based on whether the task needs structure or reasoning.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5" y="1920240"/>
            <a:ext cx="54864" cy="658368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11036808" cy="658368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9339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BEAF"/>
                </a:solidFill>
                <a:latin typeface="Poppins"/>
              </a:rPr>
              <a:t>RULE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128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3748"/>
                </a:solidFill>
                <a:latin typeface="Poppins"/>
              </a:rPr>
              <a:t>Minimum 1, Maximum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011680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167"/>
                </a:solidFill>
                <a:latin typeface="Poppins"/>
              </a:rPr>
              <a:t>Every output uses at least one strategy. Four is the ceiling — beyond that, the prompt becomes overcrowded.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5" y="2670048"/>
            <a:ext cx="54864" cy="658368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670048"/>
            <a:ext cx="11036808" cy="658368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432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BEAF"/>
                </a:solidFill>
                <a:latin typeface="Poppins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626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3748"/>
                </a:solidFill>
                <a:latin typeface="Poppins"/>
              </a:rPr>
              <a:t>Persona Almost Always Appears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761488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167"/>
                </a:solidFill>
                <a:latin typeface="Poppins"/>
              </a:rPr>
              <a:t>The only exception is purely mechanical tasks where identity is genuinely irrelevant.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635" y="3419856"/>
            <a:ext cx="54864" cy="658368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419856"/>
            <a:ext cx="11036808" cy="658368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9300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BEAF"/>
                </a:solidFill>
                <a:latin typeface="Poppins"/>
              </a:rPr>
              <a:t>RULE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712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3748"/>
                </a:solidFill>
                <a:latin typeface="Poppins"/>
              </a:rPr>
              <a:t>Blueprint ≠ Chain-of-Thought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511296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167"/>
                </a:solidFill>
                <a:latin typeface="Poppins"/>
              </a:rPr>
              <a:t>Choose the one that matches whether the task is about structure (Blueprint) or reasoning (CoT).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6635" y="4169664"/>
            <a:ext cx="54864" cy="658368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4169664"/>
            <a:ext cx="11036808" cy="658368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24281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BEAF"/>
                </a:solidFill>
                <a:latin typeface="Poppins"/>
              </a:rPr>
              <a:t>RULE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4622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3748"/>
                </a:solidFill>
                <a:latin typeface="Poppins"/>
              </a:rPr>
              <a:t>Constraints Are Additive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261104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167"/>
                </a:solidFill>
                <a:latin typeface="Poppins"/>
              </a:rPr>
              <a:t>Constraint Framing always appears alongside other strategies, never alone.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6635" y="4919472"/>
            <a:ext cx="54864" cy="658368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919472"/>
            <a:ext cx="11036808" cy="658368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99262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BEAF"/>
                </a:solidFill>
                <a:latin typeface="Poppins"/>
              </a:rPr>
              <a:t>RULE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3748"/>
                </a:solidFill>
                <a:latin typeface="Poppins"/>
              </a:rPr>
              <a:t>Few-Shot ≠ Output Format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010912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167"/>
                </a:solidFill>
                <a:latin typeface="Poppins"/>
              </a:rPr>
              <a:t>Format Spec says how to structure. Few-Shot shows what good looks like. Combined = highly predictable.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6635" y="228600"/>
            <a:ext cx="111575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3748"/>
                </a:solidFill>
                <a:latin typeface="Poppins"/>
              </a:rPr>
              <a:t>Task type → strategy combination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635" y="886968"/>
            <a:ext cx="111575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STRATEGY COMBINATION LOGIC: TASK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5" y="1234440"/>
            <a:ext cx="11157508" cy="530352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Different task types call for different strategy combinations. This map guides the AI's selection logic and teaches learners through pattern recognition.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5" y="5879592"/>
            <a:ext cx="11157508" cy="457200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91616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💡 After 10 uses, learners notice: Persona appears almost always, Constraints never alone, Chain-of-Thought only for analytical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5" y="1920240"/>
            <a:ext cx="2926080" cy="36576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5" y="193852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Task 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2716" y="1920240"/>
            <a:ext cx="6400800" cy="36576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2716" y="1938528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Primary Strategies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43516" y="1920240"/>
            <a:ext cx="1828800" cy="36576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43516" y="19385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5" y="2331720"/>
            <a:ext cx="292608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42716" y="2331720"/>
            <a:ext cx="64008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43516" y="2331720"/>
            <a:ext cx="18288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5" y="2377439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3748"/>
                </a:solidFill>
                <a:latin typeface="Poppins"/>
              </a:rPr>
              <a:t>Simple Communication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4156" y="2377439"/>
            <a:ext cx="6217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Persona + Output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4956" y="2377439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2–3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5" y="2761487"/>
            <a:ext cx="2926080" cy="429768"/>
          </a:xfrm>
          <a:prstGeom prst="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42716" y="2761487"/>
            <a:ext cx="6400800" cy="429768"/>
          </a:xfrm>
          <a:prstGeom prst="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43516" y="2761487"/>
            <a:ext cx="1828800" cy="429768"/>
          </a:xfrm>
          <a:prstGeom prst="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5" y="2807207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3748"/>
                </a:solidFill>
                <a:latin typeface="Poppins"/>
              </a:rPr>
              <a:t>Analytical / Evaluative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4156" y="2807207"/>
            <a:ext cx="6217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CoT + Constraints + Persona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4956" y="2807207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3–4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6635" y="3191256"/>
            <a:ext cx="292608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42716" y="3191256"/>
            <a:ext cx="64008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43516" y="3191256"/>
            <a:ext cx="18288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5" y="3236975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3748"/>
                </a:solidFill>
                <a:latin typeface="Poppins"/>
              </a:rPr>
              <a:t>Complex Deliverable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4156" y="3236975"/>
            <a:ext cx="6217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Blueprint + Persona + Decomposition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4956" y="3236975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3–4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6635" y="3621024"/>
            <a:ext cx="2926080" cy="429768"/>
          </a:xfrm>
          <a:prstGeom prst="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42716" y="3621024"/>
            <a:ext cx="6400800" cy="429768"/>
          </a:xfrm>
          <a:prstGeom prst="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43516" y="3621024"/>
            <a:ext cx="1828800" cy="429768"/>
          </a:xfrm>
          <a:prstGeom prst="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5" y="3666744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3748"/>
                </a:solidFill>
                <a:latin typeface="Poppins"/>
              </a:rPr>
              <a:t>Workshop Design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4156" y="3666744"/>
            <a:ext cx="6217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Persona + CoT + Tone + Few-Shot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4956" y="3666744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3–4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6635" y="4050791"/>
            <a:ext cx="292608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42716" y="4050791"/>
            <a:ext cx="64008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43516" y="4050791"/>
            <a:ext cx="18288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5" y="4096511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3748"/>
                </a:solidFill>
                <a:latin typeface="Poppins"/>
              </a:rPr>
              <a:t>Template Creation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4156" y="4096511"/>
            <a:ext cx="6217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Few-Shot + Output Format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34956" y="4096511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2–3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6635" y="4480559"/>
            <a:ext cx="2926080" cy="429768"/>
          </a:xfrm>
          <a:prstGeom prst="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42716" y="4480559"/>
            <a:ext cx="6400800" cy="429768"/>
          </a:xfrm>
          <a:prstGeom prst="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43516" y="4480559"/>
            <a:ext cx="1828800" cy="429768"/>
          </a:xfrm>
          <a:prstGeom prst="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5" y="4526279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3748"/>
                </a:solidFill>
                <a:latin typeface="Poppins"/>
              </a:rPr>
              <a:t>Executive Comms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34156" y="4526279"/>
            <a:ext cx="6217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Persona + Tone + Output Format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34956" y="4526279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3–4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6635" y="4910327"/>
            <a:ext cx="292608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42716" y="4910327"/>
            <a:ext cx="64008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843516" y="4910327"/>
            <a:ext cx="18288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075" y="4956047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3748"/>
                </a:solidFill>
                <a:latin typeface="Poppins"/>
              </a:rPr>
              <a:t>Creative Ideation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34156" y="4956047"/>
            <a:ext cx="6217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Persona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34956" y="4956047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1–2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6635" y="5340096"/>
            <a:ext cx="2926080" cy="429768"/>
          </a:xfrm>
          <a:prstGeom prst="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442716" y="5340096"/>
            <a:ext cx="6400800" cy="429768"/>
          </a:xfrm>
          <a:prstGeom prst="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843516" y="5340096"/>
            <a:ext cx="1828800" cy="429768"/>
          </a:xfrm>
          <a:prstGeom prst="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8075" y="538581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3748"/>
                </a:solidFill>
                <a:latin typeface="Poppins"/>
              </a:rPr>
              <a:t>Research Synthesis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34156" y="5385816"/>
            <a:ext cx="6217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CoT + Decomposition + Constraints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34956" y="5385816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3–4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0" y="12801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8BEAF"/>
                </a:solidFill>
                <a:latin typeface="Poppins"/>
              </a:rPr>
              <a:t>SECTION THREE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60020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3748"/>
                </a:solidFill>
                <a:latin typeface="Poppins"/>
              </a:rPr>
              <a:t>UI Design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606040"/>
            <a:ext cx="6217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167"/>
                </a:solidFill>
                <a:latin typeface="Poppins"/>
              </a:rPr>
              <a:t>From input to output, every visual element is specified. The interface is designed to feel like a real work tool — not a learning exercise — while embedding educational moments in the output layer.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6635" y="228600"/>
            <a:ext cx="111575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3748"/>
                </a:solidFill>
                <a:latin typeface="Poppins"/>
              </a:rPr>
              <a:t>Input section — single open textarea with example chips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635" y="886968"/>
            <a:ext cx="111575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UI DESIGN: INPUT 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5" y="1234440"/>
            <a:ext cx="11157508" cy="530352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The input section removes all instructional scaffolding. A single open textarea with example chips keeps the interface focused and usable for real tasks.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5" y="5879592"/>
            <a:ext cx="11157508" cy="457200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91616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💡 Learning happens in the output, not the input. No questions, no guided forms — just describe your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103120"/>
            <a:ext cx="850392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D3748"/>
                </a:solidFill>
                <a:latin typeface="Poppins"/>
              </a:rPr>
              <a:t>Describe what you're trying to 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24028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0AEC0"/>
                </a:solidFill>
                <a:latin typeface="Poppins"/>
              </a:rPr>
              <a:t>e.g., I need to write a project status update for my
leadership team...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4290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0AEC0"/>
                </a:solidFill>
                <a:latin typeface="Poppins"/>
              </a:rPr>
              <a:t>0 characters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3931920"/>
            <a:ext cx="2057400" cy="32004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3950208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A5568"/>
                </a:solidFill>
                <a:latin typeface="Poppins"/>
              </a:rPr>
              <a:t>Write a stakeholder update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95928" y="3931920"/>
            <a:ext cx="1714500" cy="32004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3950208"/>
            <a:ext cx="15316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A5568"/>
                </a:solidFill>
                <a:latin typeface="Poppins"/>
              </a:rPr>
              <a:t>Design an AI workshop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20156" y="3931920"/>
            <a:ext cx="1234440" cy="32004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11596" y="395020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A5568"/>
                </a:solidFill>
                <a:latin typeface="Poppins"/>
              </a:rPr>
              <a:t>Evaluate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64324" y="3931920"/>
            <a:ext cx="1783080" cy="32004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5764" y="39502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A5568"/>
                </a:solidFill>
                <a:latin typeface="Poppins"/>
              </a:rPr>
              <a:t>90-day onboarding plan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7132" y="3931920"/>
            <a:ext cx="1508760" cy="32004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8572" y="395020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A5568"/>
                </a:solidFill>
                <a:latin typeface="Poppins"/>
              </a:rPr>
              <a:t>Summarise research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4434840"/>
            <a:ext cx="2011680" cy="411480"/>
          </a:xfrm>
          <a:prstGeom prst="round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4453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oppins"/>
              </a:rPr>
              <a:t>Build My Prompt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5" y="5120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167"/>
                </a:solidFill>
                <a:latin typeface="Poppins"/>
              </a:rPr>
              <a:t>• Min-height 120px, auto-expands to 300px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5" y="5349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167"/>
                </a:solidFill>
                <a:latin typeface="Poppins"/>
              </a:rPr>
              <a:t>• Focus state: border → #38B2AC (Teal)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120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167"/>
                </a:solidFill>
                <a:latin typeface="Poppins"/>
              </a:rPr>
              <a:t>• 5s client-side rate limit after submission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349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167"/>
                </a:solidFill>
                <a:latin typeface="Poppins"/>
              </a:rPr>
              <a:t>• Loading: 'Building your prompt...' with animated ellipsis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6635" y="228600"/>
            <a:ext cx="111575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3748"/>
                </a:solidFill>
                <a:latin typeface="Poppins"/>
              </a:rPr>
              <a:t>Output section — two-column layout with strategy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635" y="886968"/>
            <a:ext cx="111575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UI DESIGN: OUTPUT 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5" y="1234440"/>
            <a:ext cx="11157508" cy="530352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The output appears with a slide-down + fade-in animation once the API responds. Left column (65%) shows the prompt; right column (35%) shows strategy cards.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5" y="5879592"/>
            <a:ext cx="11157508" cy="457200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91616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💡 The two-column layout makes the educational layer visible without interrupting the utility — the prompt is dominant, the learning is adjacent.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5" y="2011680"/>
            <a:ext cx="6949440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574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0AEC0"/>
                </a:solidFill>
                <a:latin typeface="Poppins"/>
              </a:rPr>
              <a:t>YOUR OPTIMISED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31720"/>
            <a:ext cx="6675120" cy="54864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35915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167"/>
                </a:solidFill>
                <a:latin typeface="Poppins"/>
              </a:rPr>
              <a:t>Your original input
"Write an update email about project progress..."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926080"/>
            <a:ext cx="6675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0AEC0"/>
                </a:solidFill>
                <a:latin typeface="Poppins"/>
              </a:rPr>
              <a:t>Optimised to 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1546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D3748"/>
                </a:solidFill>
                <a:latin typeface="Poppins"/>
              </a:rPr>
              <a:t>You are a senior project manager writing a
concise progress update for a leadership
audience who are time-poor and expect clarity
over comprehensiveness.
Write a professional email that includes:
• A 2-sentence summary of overall status
• Top 2–3 milestones completed this week...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212080"/>
            <a:ext cx="1028700" cy="292608"/>
          </a:xfrm>
          <a:prstGeom prst="round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230368"/>
            <a:ext cx="10287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oppins"/>
              </a:rPr>
              <a:t>Copy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96796" y="5212080"/>
            <a:ext cx="116586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96796" y="5230368"/>
            <a:ext cx="11658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D3748"/>
                </a:solidFill>
                <a:latin typeface="Poppins"/>
              </a:rPr>
              <a:t>← Try another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52303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167"/>
                </a:solidFill>
                <a:latin typeface="Poppins"/>
              </a:rPr>
              <a:t>Save as .txt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2011680"/>
            <a:ext cx="3995928" cy="356616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20574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0AEC0"/>
                </a:solidFill>
                <a:latin typeface="Poppins"/>
              </a:rPr>
              <a:t>HOW THIS PROMPT WAS BUILT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2677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0AEC0"/>
                </a:solidFill>
                <a:latin typeface="Poppins"/>
              </a:rPr>
              <a:t>2–4 strategies were combined. Click each to see why.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2651760"/>
            <a:ext cx="3721608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18120" y="2651760"/>
            <a:ext cx="54864" cy="411480"/>
          </a:xfrm>
          <a:prstGeom prst="rect">
            <a:avLst/>
          </a:prstGeom>
          <a:solidFill>
            <a:srgbClr val="A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73568" y="269747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3748"/>
                </a:solidFill>
                <a:latin typeface="Poppins"/>
              </a:rPr>
              <a:t>🎭  Persona / Expert Role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27249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0AEC0"/>
                </a:solidFill>
                <a:latin typeface="Poppins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3154680"/>
            <a:ext cx="3721608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18120" y="3154680"/>
            <a:ext cx="54864" cy="41148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3200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3748"/>
                </a:solidFill>
                <a:latin typeface="Poppins"/>
              </a:rPr>
              <a:t>📐  Output Format Specification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32278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0AEC0"/>
                </a:solidFill>
                <a:latin typeface="Poppins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18120" y="3794760"/>
            <a:ext cx="3721608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18120" y="3794760"/>
            <a:ext cx="54864" cy="9144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38404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D3748"/>
                </a:solidFill>
                <a:latin typeface="Poppins"/>
              </a:rPr>
              <a:t>There's no single perfect prompt.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40690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167"/>
                </a:solidFill>
                <a:latin typeface="Poppins"/>
              </a:rPr>
              <a:t>This is an optimised starting point — not the only valid approach. The strategies above are the craft behind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6635" y="228600"/>
            <a:ext cx="111575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3748"/>
                </a:solidFill>
                <a:latin typeface="Poppins"/>
              </a:rPr>
              <a:t>Strategy cards — collapsed and expanded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635" y="886968"/>
            <a:ext cx="111575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UI DESIGN: STRATEGY CARDS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5" y="1234440"/>
            <a:ext cx="11157508" cy="530352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Each strategy used is rendered as a collapsible card with a left accent strip colour-coded to the strategy. Cards stack vertically with 10px gaps.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5" y="5879592"/>
            <a:ext cx="11157508" cy="457200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91616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💡 The 'Why this was used' rationale is generated dynamically per task — making it feel like a colleague's observation, not documentation.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BEAF"/>
                </a:solidFill>
                <a:latin typeface="Poppins"/>
              </a:rPr>
              <a:t>COLLAPSED STATE (DEFAULT)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5029200" cy="50292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240280"/>
            <a:ext cx="54864" cy="502920"/>
          </a:xfrm>
          <a:prstGeom prst="rect">
            <a:avLst/>
          </a:prstGeom>
          <a:solidFill>
            <a:srgbClr val="A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286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3748"/>
                </a:solidFill>
                <a:latin typeface="Poppins"/>
              </a:rPr>
              <a:t>🎭  Persona / Expert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3134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0AEC0"/>
                </a:solidFill>
                <a:latin typeface="Poppins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926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BEAF"/>
                </a:solidFill>
                <a:latin typeface="Poppins"/>
              </a:rPr>
              <a:t>EXPANDED STATE (ON CLICK)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200400"/>
            <a:ext cx="5029200" cy="246888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200400"/>
            <a:ext cx="54864" cy="2468880"/>
          </a:xfrm>
          <a:prstGeom prst="rect">
            <a:avLst/>
          </a:prstGeom>
          <a:solidFill>
            <a:srgbClr val="A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246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3748"/>
                </a:solidFill>
                <a:latin typeface="Poppins"/>
              </a:rPr>
              <a:t>🎭  Persona / Expert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3246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0AEC0"/>
                </a:solidFill>
                <a:latin typeface="Poppins"/>
              </a:rPr>
              <a:t>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6576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0AEC0"/>
                </a:solidFill>
                <a:latin typeface="Poppins"/>
              </a:rPr>
              <a:t>WHY THIS WAS 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8404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568"/>
                </a:solidFill>
                <a:latin typeface="Poppins"/>
              </a:rPr>
              <a:t>A leadership audience expects authority and brevity — assigning a senior PM role shapes the voice before a word is written.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4348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0AEC0"/>
                </a:solidFill>
                <a:latin typeface="Poppins"/>
              </a:rPr>
              <a:t>WHAT THIS STRATEGY DOES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617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Sets a specific expert identity that anchors the AI's register, vocabulary, and level of authority throughout the entire response.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2240280"/>
            <a:ext cx="5440680" cy="342900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33172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Card Styling: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Background: #F7FAFC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Border: 1px solid #E2E8F0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Border-radius: 10px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Padding: 12px 16px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Left accent: 4px, strategy colour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Card Grid by Count: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1–3 strategies: full-width stacked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4 strategies: 2×2 grid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Mobile: always single column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0" y="12801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8BEAF"/>
                </a:solidFill>
                <a:latin typeface="Poppins"/>
              </a:rPr>
              <a:t>SECTION FOUR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60020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3748"/>
                </a:solidFill>
                <a:latin typeface="Poppins"/>
              </a:rPr>
              <a:t>The Pedagogy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606040"/>
            <a:ext cx="6217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167"/>
                </a:solidFill>
                <a:latin typeface="Poppins"/>
              </a:rPr>
              <a:t>Every design decision serves a learning outcome. This section defines the five principles that ensure the tool teaches prompting as a craft — not a formula — through repeated use rather than instruction.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6635" y="228600"/>
            <a:ext cx="111575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3748"/>
                </a:solidFill>
                <a:latin typeface="Poppins"/>
              </a:rPr>
              <a:t>Five learning design principles embedded in every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635" y="886968"/>
            <a:ext cx="111575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PEDAGOGY: LEARNING DESIGN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5" y="1234440"/>
            <a:ext cx="11157508" cy="530352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The Prompt Playground's educational value is invisible by design — users feel like they're using a work tool while absorbing prompting principles through repeated exposure.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5" y="5879592"/>
            <a:ext cx="11157508" cy="457200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91616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💡 After three uses, a learner can say 'I need chain-of-thought here' rather than 'I need to add more detail.' That vocabulary is the learning.</a:t>
            </a:r>
          </a:p>
        </p:txBody>
      </p:sp>
      <p:sp>
        <p:nvSpPr>
          <p:cNvPr id="9" name="Oval 8"/>
          <p:cNvSpPr/>
          <p:nvPr/>
        </p:nvSpPr>
        <p:spPr>
          <a:xfrm>
            <a:off x="516635" y="1965960"/>
            <a:ext cx="457200" cy="457200"/>
          </a:xfrm>
          <a:prstGeom prst="ellipse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5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P1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1920240"/>
            <a:ext cx="10579608" cy="676656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9659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3748"/>
                </a:solidFill>
                <a:latin typeface="Poppins"/>
              </a:rPr>
              <a:t>Learning happens in the output, not the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26771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No instructional scaffolding in the input stage. Intelligence lives in what comes back.</a:t>
            </a:r>
          </a:p>
        </p:txBody>
      </p:sp>
      <p:sp>
        <p:nvSpPr>
          <p:cNvPr id="14" name="Oval 13"/>
          <p:cNvSpPr/>
          <p:nvPr/>
        </p:nvSpPr>
        <p:spPr>
          <a:xfrm>
            <a:off x="516635" y="2734056"/>
            <a:ext cx="457200" cy="457200"/>
          </a:xfrm>
          <a:prstGeom prst="ellipse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5" y="27797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P2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688336"/>
            <a:ext cx="10579608" cy="676656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2734056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3748"/>
                </a:solidFill>
                <a:latin typeface="Poppins"/>
              </a:rPr>
              <a:t>Strategies are named, not implied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03580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Every strategy is named explicitly — giving learners vocabulary they can carry forward.</a:t>
            </a:r>
          </a:p>
        </p:txBody>
      </p:sp>
      <p:sp>
        <p:nvSpPr>
          <p:cNvPr id="19" name="Oval 18"/>
          <p:cNvSpPr/>
          <p:nvPr/>
        </p:nvSpPr>
        <p:spPr>
          <a:xfrm>
            <a:off x="516635" y="3502152"/>
            <a:ext cx="457200" cy="457200"/>
          </a:xfrm>
          <a:prstGeom prst="ellipse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5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P3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456432"/>
            <a:ext cx="10579608" cy="676656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350215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3748"/>
                </a:solidFill>
                <a:latin typeface="Poppins"/>
              </a:rPr>
              <a:t>Rationale is task-specific, not generic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03904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'Your task involves comparing options' feels like a colleague's observation, not documentation.</a:t>
            </a:r>
          </a:p>
        </p:txBody>
      </p:sp>
      <p:sp>
        <p:nvSpPr>
          <p:cNvPr id="24" name="Oval 23"/>
          <p:cNvSpPr/>
          <p:nvPr/>
        </p:nvSpPr>
        <p:spPr>
          <a:xfrm>
            <a:off x="516635" y="4270248"/>
            <a:ext cx="457200" cy="457200"/>
          </a:xfrm>
          <a:prstGeom prst="ellipse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5" y="43159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P4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224528"/>
            <a:ext cx="10579608" cy="676656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427024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3748"/>
                </a:solidFill>
                <a:latin typeface="Poppins"/>
              </a:rPr>
              <a:t>The caveat is the most important sentence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720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'No single perfect prompt' positions prompting as a craft with judgment calls.</a:t>
            </a:r>
          </a:p>
        </p:txBody>
      </p:sp>
      <p:sp>
        <p:nvSpPr>
          <p:cNvPr id="29" name="Oval 28"/>
          <p:cNvSpPr/>
          <p:nvPr/>
        </p:nvSpPr>
        <p:spPr>
          <a:xfrm>
            <a:off x="516635" y="5038344"/>
            <a:ext cx="457200" cy="457200"/>
          </a:xfrm>
          <a:prstGeom prst="ellipse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5" y="50840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P5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4992624"/>
            <a:ext cx="10579608" cy="676656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5038344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3748"/>
                </a:solidFill>
                <a:latin typeface="Poppins"/>
              </a:rPr>
              <a:t>Repeated use compounds learning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340096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Patterns emerge through exposure: Persona always, Constraints never alone, CoT for analysis.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6635" y="228600"/>
            <a:ext cx="111575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3748"/>
                </a:solidFill>
                <a:latin typeface="Poppins"/>
              </a:rPr>
              <a:t>What learners absorb at each interaction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635" y="886968"/>
            <a:ext cx="111575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PEDAGOGY: LEARNING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5" y="1234440"/>
            <a:ext cx="11157508" cy="530352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Each moment in the user journey teaches something distinct — from articulating needs to recognising patterns across repeated 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5" y="5879592"/>
            <a:ext cx="11157508" cy="457200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91616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💡 These patterns are not explained anywhere in the interface. They emerge through repeated use — the right model for building intuition.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5" y="1920240"/>
            <a:ext cx="365760" cy="5029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5" y="20116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1920240"/>
            <a:ext cx="3474720" cy="502920"/>
          </a:xfrm>
          <a:prstGeom prst="round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9933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Typing in the textarea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9339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8BEAF"/>
                </a:solidFill>
                <a:latin typeface="Poppi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920240"/>
            <a:ext cx="6739128" cy="50292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99339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Poppins"/>
              </a:rPr>
              <a:t>Prompting starts with articulating what you actually need — most prompts fail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" y="2560320"/>
            <a:ext cx="365760" cy="5029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5" y="2651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2560320"/>
            <a:ext cx="3474720" cy="502920"/>
          </a:xfrm>
          <a:prstGeom prst="round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6334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Receiving the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6334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8BEAF"/>
                </a:solidFill>
                <a:latin typeface="Poppin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2560320"/>
            <a:ext cx="6739128" cy="50292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63347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Poppins"/>
              </a:rPr>
              <a:t>The gap between what I asked and what a good prompt looks like — and that it's closeable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6635" y="3200400"/>
            <a:ext cx="365760" cy="5029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5" y="3291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3200400"/>
            <a:ext cx="3474720" cy="502920"/>
          </a:xfrm>
          <a:prstGeom prst="round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32735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Opening strategy cards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2735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8BEAF"/>
                </a:solidFill>
                <a:latin typeface="Poppin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0" y="3200400"/>
            <a:ext cx="6739128" cy="50292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327355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Poppins"/>
              </a:rPr>
              <a:t>There are named techniques behind this, not magic — and I can learn them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6635" y="3840479"/>
            <a:ext cx="365760" cy="5029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5" y="393191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3840479"/>
            <a:ext cx="3474720" cy="502920"/>
          </a:xfrm>
          <a:prstGeom prst="round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913631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Reading 'Why this was used'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913631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8BEAF"/>
                </a:solidFill>
                <a:latin typeface="Poppin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37760" y="3840479"/>
            <a:ext cx="6739128" cy="50292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74920" y="391363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Poppins"/>
              </a:rPr>
              <a:t>Why this technique was right for this situation — begins building judgment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6635" y="4480560"/>
            <a:ext cx="365760" cy="5029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6635" y="4572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" y="4480560"/>
            <a:ext cx="3474720" cy="502920"/>
          </a:xfrm>
          <a:prstGeom prst="round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45537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Noticing pattern repetition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455371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8BEAF"/>
                </a:solidFill>
                <a:latin typeface="Poppins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7760" y="4480560"/>
            <a:ext cx="6739128" cy="50292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74920" y="455371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Poppins"/>
              </a:rPr>
              <a:t>Some techniques are universal (Persona), some situational, some risky to overuse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6635" y="5120640"/>
            <a:ext cx="365760" cy="5029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6635" y="521207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5840" y="5120640"/>
            <a:ext cx="3474720" cy="502920"/>
          </a:xfrm>
          <a:prstGeom prst="round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7280" y="51937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Reading the caveat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519379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8BEAF"/>
                </a:solidFill>
                <a:latin typeface="Poppins"/>
              </a:rP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37760" y="5120640"/>
            <a:ext cx="6739128" cy="50292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74920" y="519379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Poppins"/>
              </a:rPr>
              <a:t>My job is not to memorise a formula but to develop a craft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0" y="12801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8BEAF"/>
                </a:solidFill>
                <a:latin typeface="Poppins"/>
              </a:rPr>
              <a:t>SECTION FIVE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60020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3748"/>
                </a:solidFill>
                <a:latin typeface="Poppins"/>
              </a:rPr>
              <a:t>Technical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606040"/>
            <a:ext cx="6217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167"/>
                </a:solidFill>
                <a:latin typeface="Poppins"/>
              </a:rPr>
              <a:t>The engineering details that power the experience — API configuration, state management, error handling, and responsive behaviour across breakpoints.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6635" y="228600"/>
            <a:ext cx="111575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3748"/>
                </a:solidFill>
                <a:latin typeface="Poppins"/>
              </a:rPr>
              <a:t>API specification and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635" y="886968"/>
            <a:ext cx="111575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TECHNICAL: API &amp;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5" y="1234440"/>
            <a:ext cx="11157508" cy="530352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All API calls go through a backend proxy endpoint (Firebase Cloud Function via OpenRouter). The system prompt is stored server-side, never in the frontend.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5" y="5879592"/>
            <a:ext cx="11157508" cy="457200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91616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💡 The system prompt IS the intelligence layer — it contains the strategy selection logic, combination rules, and output format specification.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5" y="1920240"/>
            <a:ext cx="3566160" cy="3749039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6635" y="1920240"/>
            <a:ext cx="3566160" cy="73152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3748"/>
                </a:solidFill>
                <a:latin typeface="Poppins"/>
              </a:rPr>
              <a:t>API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" y="242316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Model: claude-sonnet-4-20250514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Max tokens: 1,500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Endpoint: OpenRouter proxy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Backend: Firebase Cloud Function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Response: JSON (prompt + strategies)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Timeout: 15 seconds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19956" y="1920240"/>
            <a:ext cx="3566160" cy="3749039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19956" y="1920240"/>
            <a:ext cx="3566160" cy="73152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7116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3748"/>
                </a:solidFill>
                <a:latin typeface="Poppins"/>
              </a:rPr>
              <a:t>State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7116" y="242316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userInput: string (textarea)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isLoading: boolean (API call)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result: object | null (response)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expandedCards: Set&lt;string&gt;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copySuccess: boolean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originalInput: string (snapshot)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3275" y="1920240"/>
            <a:ext cx="3566160" cy="3749039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23275" y="1920240"/>
            <a:ext cx="3566160" cy="73152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0436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3748"/>
                </a:solidFill>
                <a:latin typeface="Poppins"/>
              </a:rPr>
              <a:t>Rate Limiting &amp; Errors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0436" y="242316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Client-side: 5s after submission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Parse failure → red error banner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Timeout → amber warning notice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API key missing → generic message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Empty submit → inline validation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Never expose API error details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6635" y="228600"/>
            <a:ext cx="111575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3748"/>
                </a:solidFill>
                <a:latin typeface="Poppins"/>
              </a:rPr>
              <a:t>Responsive behaviour across three breakpoints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635" y="886968"/>
            <a:ext cx="111575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TECHNICAL: RESPONSIVE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5" y="1234440"/>
            <a:ext cx="11157508" cy="530352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The layout adapts across desktop (1200px+), tablet (768–1199px), and mobile (&lt;768px) with specific rules for the two-column output layout.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5" y="5879592"/>
            <a:ext cx="11157508" cy="457200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91616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💡 The two-column output is maintained on tablet to preserve the prompt-beside-strategies relationship — it only stacks on mobile.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5" y="1920240"/>
            <a:ext cx="3566160" cy="3749039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6635" y="1920240"/>
            <a:ext cx="3566160" cy="73152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" y="2057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D3748"/>
                </a:solidFill>
                <a:latin typeface="Poppins"/>
              </a:rPr>
              <a:t>Desktop (1200px+)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" y="246888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Two-column output: 65% / 35%, gap 32px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Max-width: 1100px, centred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Textarea min-height: 120px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Example chips: all visible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4 strategy cards: 2×2 grid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19956" y="1920240"/>
            <a:ext cx="3566160" cy="3749039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19956" y="1920240"/>
            <a:ext cx="3566160" cy="73152"/>
          </a:xfrm>
          <a:prstGeom prst="rect">
            <a:avLst/>
          </a:prstGeom>
          <a:solidFill>
            <a:srgbClr val="E8A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7116" y="2057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D3748"/>
                </a:solidFill>
                <a:latin typeface="Poppins"/>
              </a:rPr>
              <a:t>Tablet (768–1199px)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7116" y="246888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Two-column maintained: 60% / 40%, gap 24px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Textarea min-height: 100px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Chips: may require horizontal scroll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Strategy cards: single-column stack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Page padding: 24px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3275" y="1920240"/>
            <a:ext cx="3566160" cy="3749039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23275" y="1920240"/>
            <a:ext cx="3566160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0436" y="2057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D3748"/>
                </a:solidFill>
                <a:latin typeface="Poppins"/>
              </a:rPr>
              <a:t>Mobile (&lt;768px)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0436" y="246888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Single column — stacked layout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Prompt first, then strategy cards below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CTA button: full width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Action bar: stacks vertically, 8px gap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• Page padding: 16px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6635" y="228600"/>
            <a:ext cx="111575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3748"/>
                </a:solidFill>
                <a:latin typeface="Poppins"/>
              </a:rPr>
              <a:t>Visual design specification — colours and typography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635" y="886968"/>
            <a:ext cx="111575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TECHNICAL: DESIGN TOKENS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5" y="1234440"/>
            <a:ext cx="11157508" cy="530352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Every colour and font weight in the Playground is specified. DM Sans is the typeface throughout with carefully defined size and weight scales.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5" y="5879592"/>
            <a:ext cx="11157508" cy="457200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91616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💡 Colour is not the sole differentiator for strategies — the strategy name and icon carry the same information, ensuring accessibility.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5" y="2011680"/>
            <a:ext cx="1691640" cy="548640"/>
          </a:xfrm>
          <a:prstGeom prst="roundRect">
            <a:avLst/>
          </a:prstGeom>
          <a:solidFill>
            <a:srgbClr val="1A202C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5" y="260604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D3748"/>
                </a:solidFill>
                <a:latin typeface="Poppins"/>
              </a:rPr>
              <a:t>Primary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5" y="278892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167"/>
                </a:solidFill>
                <a:latin typeface="Poppins"/>
              </a:rPr>
              <a:t>#1A202C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1156" y="2011680"/>
            <a:ext cx="1691640" cy="548640"/>
          </a:xfrm>
          <a:prstGeom prst="roundRect">
            <a:avLst/>
          </a:prstGeom>
          <a:solidFill>
            <a:srgbClr val="4A5568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1156" y="260604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D3748"/>
                </a:solidFill>
                <a:latin typeface="Poppins"/>
              </a:rPr>
              <a:t>Secondary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1156" y="278892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167"/>
                </a:solidFill>
                <a:latin typeface="Poppins"/>
              </a:rPr>
              <a:t>#4A5568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5675" y="2011680"/>
            <a:ext cx="1691640" cy="548640"/>
          </a:xfrm>
          <a:prstGeom prst="roundRect">
            <a:avLst/>
          </a:prstGeom>
          <a:solidFill>
            <a:srgbClr val="38B2AC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5675" y="260604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D3748"/>
                </a:solidFill>
                <a:latin typeface="Poppins"/>
              </a:rPr>
              <a:t>Teal CTA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5675" y="278892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167"/>
                </a:solidFill>
                <a:latin typeface="Poppins"/>
              </a:rPr>
              <a:t>#38B2AC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0196" y="2011680"/>
            <a:ext cx="1691640" cy="54864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0196" y="260604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D3748"/>
                </a:solidFill>
                <a:latin typeface="Poppins"/>
              </a:rPr>
              <a:t>Card BG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0196" y="278892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167"/>
                </a:solidFill>
                <a:latin typeface="Poppins"/>
              </a:rPr>
              <a:t>#F7FAFC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4715" y="2011680"/>
            <a:ext cx="1691640" cy="548640"/>
          </a:xfrm>
          <a:prstGeom prst="roundRect">
            <a:avLst/>
          </a:prstGeom>
          <a:solidFill>
            <a:srgbClr val="E2E8F0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4715" y="260604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D3748"/>
                </a:solidFill>
                <a:latin typeface="Poppins"/>
              </a:rPr>
              <a:t>Border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4715" y="278892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167"/>
                </a:solidFill>
                <a:latin typeface="Poppins"/>
              </a:rPr>
              <a:t>#E2E8F0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89236" y="2011680"/>
            <a:ext cx="1691640" cy="548640"/>
          </a:xfrm>
          <a:prstGeom prst="roundRect">
            <a:avLst/>
          </a:prstGeom>
          <a:solidFill>
            <a:srgbClr val="FC8181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89236" y="260604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D3748"/>
                </a:solidFill>
                <a:latin typeface="Poppins"/>
              </a:rPr>
              <a:t>Error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89236" y="278892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167"/>
                </a:solidFill>
                <a:latin typeface="Poppins"/>
              </a:rPr>
              <a:t>#FC8181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5" y="31546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BEAF"/>
                </a:solidFill>
                <a:latin typeface="Poppins"/>
              </a:rPr>
              <a:t>STRATEGY ACCENT COLOURS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5" y="3429000"/>
            <a:ext cx="1691640" cy="365760"/>
          </a:xfrm>
          <a:prstGeom prst="roundRect">
            <a:avLst/>
          </a:prstGeom>
          <a:solidFill>
            <a:srgbClr val="C3D0F5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5" y="384048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D3748"/>
                </a:solidFill>
                <a:latin typeface="Poppins"/>
              </a:rPr>
              <a:t>Blueprint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91156" y="3429000"/>
            <a:ext cx="1691640" cy="365760"/>
          </a:xfrm>
          <a:prstGeom prst="roundRect">
            <a:avLst/>
          </a:prstGeom>
          <a:solidFill>
            <a:srgbClr val="FBE8A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91156" y="384048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D3748"/>
                </a:solidFill>
                <a:latin typeface="Poppins"/>
              </a:rPr>
              <a:t>Chain-of-Thought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65675" y="3429000"/>
            <a:ext cx="1691640" cy="365760"/>
          </a:xfrm>
          <a:prstGeom prst="roundRect">
            <a:avLst/>
          </a:prstGeom>
          <a:solidFill>
            <a:srgbClr val="A8F0E0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65675" y="384048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D3748"/>
                </a:solidFill>
                <a:latin typeface="Poppins"/>
              </a:rPr>
              <a:t>Persona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0196" y="3429000"/>
            <a:ext cx="1691640" cy="365760"/>
          </a:xfrm>
          <a:prstGeom prst="roundRect">
            <a:avLst/>
          </a:prstGeom>
          <a:solidFill>
            <a:srgbClr val="38B2AC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0196" y="384048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D3748"/>
                </a:solidFill>
                <a:latin typeface="Poppins"/>
              </a:rPr>
              <a:t>Output Format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14715" y="3429000"/>
            <a:ext cx="1691640" cy="365760"/>
          </a:xfrm>
          <a:prstGeom prst="roundRect">
            <a:avLst/>
          </a:prstGeom>
          <a:solidFill>
            <a:srgbClr val="FBCEB1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4715" y="384048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D3748"/>
                </a:solidFill>
                <a:latin typeface="Poppins"/>
              </a:rPr>
              <a:t>Constraints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89236" y="3429000"/>
            <a:ext cx="1691640" cy="365760"/>
          </a:xfrm>
          <a:prstGeom prst="roundRect">
            <a:avLst/>
          </a:prstGeom>
          <a:solidFill>
            <a:srgbClr val="E6FFFA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89236" y="384048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D3748"/>
                </a:solidFill>
                <a:latin typeface="Poppins"/>
              </a:rPr>
              <a:t>Few-Shot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5" y="4251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BEAF"/>
                </a:solidFill>
                <a:latin typeface="Poppins"/>
              </a:rPr>
              <a:t>TYPOGRAPHY — DM SANS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45262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D3748"/>
                </a:solidFill>
                <a:latin typeface="Poppins"/>
              </a:rPr>
              <a:t>Page title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5262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BEAF"/>
                </a:solidFill>
                <a:latin typeface="Poppins"/>
              </a:rPr>
              <a:t>700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5262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167"/>
                </a:solidFill>
                <a:latin typeface="Poppins"/>
              </a:rPr>
              <a:t>40–48px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474573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D3748"/>
                </a:solidFill>
                <a:latin typeface="Poppins"/>
              </a:rPr>
              <a:t>Input label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7457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BEAF"/>
                </a:solidFill>
                <a:latin typeface="Poppins"/>
              </a:rPr>
              <a:t>600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47457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167"/>
                </a:solidFill>
                <a:latin typeface="Poppins"/>
              </a:rPr>
              <a:t>16px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49651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D3748"/>
                </a:solidFill>
                <a:latin typeface="Poppins"/>
              </a:rPr>
              <a:t>Textarea text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496519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BEAF"/>
                </a:solidFill>
                <a:latin typeface="Poppins"/>
              </a:rPr>
              <a:t>400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49651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167"/>
                </a:solidFill>
                <a:latin typeface="Poppins"/>
              </a:rPr>
              <a:t>15px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51846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D3748"/>
                </a:solidFill>
                <a:latin typeface="Poppins"/>
              </a:rPr>
              <a:t>CTA button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51846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BEAF"/>
                </a:solidFill>
                <a:latin typeface="Poppins"/>
              </a:rPr>
              <a:t>600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51846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167"/>
                </a:solidFill>
                <a:latin typeface="Poppins"/>
              </a:rPr>
              <a:t>15px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540410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D3748"/>
                </a:solidFill>
                <a:latin typeface="Poppins"/>
              </a:rPr>
              <a:t>Strategy card name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540410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BEAF"/>
                </a:solidFill>
                <a:latin typeface="Poppins"/>
              </a:rPr>
              <a:t>600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54041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167"/>
                </a:solidFill>
                <a:latin typeface="Poppins"/>
              </a:rPr>
              <a:t>14px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562356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D3748"/>
                </a:solidFill>
                <a:latin typeface="Poppins"/>
              </a:rPr>
              <a:t>Card body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562356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BEAF"/>
                </a:solidFill>
                <a:latin typeface="Poppins"/>
              </a:rPr>
              <a:t>400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56235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167"/>
                </a:solidFill>
                <a:latin typeface="Poppins"/>
              </a:rPr>
              <a:t>13px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6635" y="228600"/>
            <a:ext cx="111575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3748"/>
                </a:solidFill>
                <a:latin typeface="Poppins"/>
              </a:rPr>
              <a:t>Worked example — from user input to complete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635" y="886968"/>
            <a:ext cx="111575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8BEAF"/>
                </a:solidFill>
                <a:latin typeface="Poppins"/>
              </a:rPr>
              <a:t>WORKED EXAMPLE: SIMPLE COMMUNICATION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5" y="1234440"/>
            <a:ext cx="11157508" cy="530352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This shows the full flow for Example A from the PRD: a user asks for a project status update email and receives a Persona + Output Format optimised prompt.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5" y="5879592"/>
            <a:ext cx="11157508" cy="457200"/>
          </a:xfrm>
          <a:prstGeom prst="rect">
            <a:avLst/>
          </a:prstGeom>
          <a:solidFill>
            <a:srgbClr val="F2F4F6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91616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7"/>
                </a:solidFill>
                <a:latin typeface="Poppins"/>
              </a:rPr>
              <a:t>💡 Two strategies are sufficient for a simple email — over-engineering with 4 strategies would add noise, not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BEAF"/>
                </a:solidFill>
                <a:latin typeface="Poppins"/>
              </a:rPr>
              <a:t>USER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94560"/>
            <a:ext cx="10789920" cy="45720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240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Poppins"/>
              </a:rPr>
              <a:t>"Write an update email about project progress to share with leadership"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889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BEAF"/>
                </a:solidFill>
                <a:latin typeface="Poppins"/>
              </a:rPr>
              <a:t>STRATEGIES SELECTED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017520"/>
            <a:ext cx="2286000" cy="320040"/>
          </a:xfrm>
          <a:prstGeom prst="roundRect">
            <a:avLst/>
          </a:prstGeom>
          <a:solidFill>
            <a:srgbClr val="A8F0E0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358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3748"/>
                </a:solidFill>
                <a:latin typeface="Poppins"/>
              </a:rPr>
              <a:t>🎭  Persona / Expert Role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3017520"/>
            <a:ext cx="2743200" cy="320040"/>
          </a:xfrm>
          <a:prstGeom prst="roundRect">
            <a:avLst/>
          </a:prstGeom>
          <a:solidFill>
            <a:srgbClr val="38B2AC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30358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📐  Output Format Specification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5204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BEAF"/>
                </a:solidFill>
                <a:latin typeface="Poppins"/>
              </a:rPr>
              <a:t>GENERATED PROMPT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49039"/>
            <a:ext cx="685800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794760"/>
            <a:ext cx="6583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D3748"/>
                </a:solidFill>
                <a:latin typeface="Poppins"/>
              </a:rPr>
              <a:t>You are a senior project manager writing a concise progress update for a leadership audience who are time-poor and expect clarity over comprehensiveness.
Write a professional email that includes:
• A 2-sentence summary of overall project status
• The top 2–3 milestones completed this week
• Any active risks or blockers, each with a mitigation step
• What decisions or support you need in the next two weeks
Keep the email under 250 words. Use clear, scannable section headers.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5204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BEAF"/>
                </a:solidFill>
                <a:latin typeface="Poppins"/>
              </a:rPr>
              <a:t>STRATEGY RATIONALE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3749039"/>
            <a:ext cx="3904487" cy="86868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749039"/>
            <a:ext cx="54864" cy="868680"/>
          </a:xfrm>
          <a:prstGeom prst="rect">
            <a:avLst/>
          </a:prstGeom>
          <a:solidFill>
            <a:srgbClr val="A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37947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3748"/>
                </a:solidFill>
                <a:latin typeface="Poppins"/>
              </a:rPr>
              <a:t>🎭  Persona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400507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A5568"/>
                </a:solidFill>
                <a:latin typeface="Poppins"/>
              </a:rPr>
              <a:t>A leadership audience expects authority and brevity — assigning a senior PM role shapes the voice before a word is written.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4709160"/>
            <a:ext cx="3904487" cy="86868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4709160"/>
            <a:ext cx="54864" cy="86868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47548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3748"/>
                </a:solidFill>
                <a:latin typeface="Poppins"/>
              </a:rPr>
              <a:t>📐  Output Format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49651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A5568"/>
                </a:solidFill>
                <a:latin typeface="Poppins"/>
              </a:rPr>
              <a:t>Without format specification, a status email becomes a wall of prose. Defining the structure makes it scannable.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